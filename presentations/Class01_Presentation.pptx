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18"/>
    <p:sldId id="259" r:id="rId4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1340" y="2700037"/>
            <a:ext cx="3069321" cy="145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Client–Server Architecture</a:t>
            </a:r>
          </a:p>
        </p:txBody>
      </p:sp>
      <p:sp>
        <p:nvSpPr>
          <p:cNvPr id="11" name="Cloud"/>
          <p:cNvSpPr/>
          <p:nvPr/>
        </p:nvSpPr>
        <p:spPr>
          <a:xfrm>
            <a:off x="5486400" y="1417320"/>
            <a:ext cx="6217920" cy="3383280"/>
          </a:xfrm>
          <a:prstGeom prst="cloud">
            <a:avLst/>
          </a:prstGeom>
          <a:solidFill>
            <a:srgbClr val="DCEBF7"/>
          </a:solidFill>
          <a:ln w="25400">
            <a:solidFill>
              <a:srgbClr val="2F6DA3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" name="Cloud Label"/>
          <p:cNvSpPr txBox="1"/>
          <p:nvPr/>
        </p:nvSpPr>
        <p:spPr>
          <a:xfrm>
            <a:off x="7223760" y="1828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2F6DA3"/>
                </a:solidFill>
                <a:latin typeface="Calibri"/>
                <a:cs typeface="Calibri"/>
              </a:rPr>
              <a:t>CLOUD</a:t>
            </a:r>
          </a:p>
        </p:txBody>
      </p:sp>
      <p:sp>
        <p:nvSpPr>
          <p:cNvPr id="13" name="Web Server"/>
          <p:cNvSpPr/>
          <p:nvPr/>
        </p:nvSpPr>
        <p:spPr>
          <a:xfrm>
            <a:off x="6309360" y="23774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2E6B34"/>
          </a:solidFill>
          <a:ln w="19050">
            <a:solidFill>
              <a:srgbClr val="1F4A2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  <a:cs typeface="Calibri"/>
              </a:rPr>
              <a:t>Web Server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Handles requests &amp; business logic</a:t>
            </a:r>
          </a:p>
        </p:txBody>
      </p:sp>
      <p:sp>
        <p:nvSpPr>
          <p:cNvPr id="14" name="Database Server"/>
          <p:cNvSpPr/>
          <p:nvPr/>
        </p:nvSpPr>
        <p:spPr>
          <a:xfrm>
            <a:off x="9235440" y="2331720"/>
            <a:ext cx="1783080" cy="1645920"/>
          </a:xfrm>
          <a:prstGeom prst="can">
            <a:avLst>
              <a:gd name="adj" fmla="val 18000"/>
            </a:avLst>
          </a:prstGeom>
          <a:solidFill>
            <a:srgbClr val="FFC000"/>
          </a:solidFill>
          <a:ln w="19050">
            <a:solidFill>
              <a:srgbClr val="8A61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Database Server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Stores &amp; retrieves data</a:t>
            </a:r>
          </a:p>
        </p:txBody>
      </p:sp>
      <p:cxnSp>
        <p:nvCxnSpPr>
          <p:cNvPr id="15" name="Server-DB Arrow"/>
          <p:cNvCxnSpPr/>
          <p:nvPr/>
        </p:nvCxnSpPr>
        <p:spPr>
          <a:xfrm>
            <a:off x="8156448" y="3154680"/>
            <a:ext cx="1060704" cy="0"/>
          </a:xfrm>
          <a:prstGeom prst="line">
            <a:avLst/>
          </a:prstGeom>
          <a:ln w="31750">
            <a:solidFill>
              <a:srgbClr val="2F6DA3"/>
            </a:solidFill>
            <a:headEnd type="triangle" w="med" len="med"/>
            <a:tailEnd type="triangle" w="med" len="med"/>
          </a:ln>
        </p:spPr>
      </p:cxnSp>
      <p:sp>
        <p:nvSpPr>
          <p:cNvPr id="16" name="Query Label"/>
          <p:cNvSpPr txBox="1"/>
          <p:nvPr/>
        </p:nvSpPr>
        <p:spPr>
          <a:xfrm>
            <a:off x="8138160" y="27432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F6DA3"/>
                </a:solidFill>
                <a:latin typeface="Calibri"/>
                <a:cs typeface="Calibri"/>
              </a:rPr>
              <a:t>Query / Data</a:t>
            </a:r>
          </a:p>
        </p:txBody>
      </p:sp>
      <p:sp>
        <p:nvSpPr>
          <p:cNvPr id="17" name="Clients Label"/>
          <p:cNvSpPr txBox="1"/>
          <p:nvPr/>
        </p:nvSpPr>
        <p:spPr>
          <a:xfrm>
            <a:off x="457200" y="61722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2E6B34"/>
                </a:solidFill>
                <a:latin typeface="Calibri"/>
                <a:cs typeface="Calibri"/>
              </a:rPr>
              <a:t>CLIENT DEVICES</a:t>
            </a:r>
          </a:p>
        </p:txBody>
      </p:sp>
      <p:cxnSp>
        <p:nvCxnSpPr>
          <p:cNvPr id="18" name="Arrow Mobile"/>
          <p:cNvCxnSpPr/>
          <p:nvPr/>
        </p:nvCxnSpPr>
        <p:spPr>
          <a:xfrm flipV="1">
            <a:off x="1097280" y="3920947"/>
            <a:ext cx="4800600" cy="925373"/>
          </a:xfrm>
          <a:prstGeom prst="line">
            <a:avLst/>
          </a:prstGeom>
          <a:ln w="31750">
            <a:solidFill>
              <a:srgbClr val="2E6B34"/>
            </a:solidFill>
            <a:headEnd type="triangle" w="med" len="med"/>
            <a:tailEnd type="triangle" w="med" len="med"/>
          </a:ln>
        </p:spPr>
      </p:cxnSp>
      <p:sp>
        <p:nvSpPr>
          <p:cNvPr id="19" name="Mobile Icon"/>
          <p:cNvSpPr/>
          <p:nvPr/>
        </p:nvSpPr>
        <p:spPr>
          <a:xfrm>
            <a:off x="804672" y="4937760"/>
            <a:ext cx="585216" cy="1188720"/>
          </a:xfrm>
          <a:prstGeom prst="roundRect">
            <a:avLst>
              <a:gd name="adj" fmla="val 16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0" name="Mobile Screen"/>
          <p:cNvSpPr/>
          <p:nvPr/>
        </p:nvSpPr>
        <p:spPr>
          <a:xfrm>
            <a:off x="868680" y="5074920"/>
            <a:ext cx="457200" cy="868680"/>
          </a:xfrm>
          <a:prstGeom prst="rect">
            <a:avLst/>
          </a:prstGeom>
          <a:solidFill>
            <a:srgbClr val="BFE0C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cxnSp>
        <p:nvCxnSpPr>
          <p:cNvPr id="21" name="Arrow Tablet"/>
          <p:cNvCxnSpPr/>
          <p:nvPr/>
        </p:nvCxnSpPr>
        <p:spPr>
          <a:xfrm flipV="1">
            <a:off x="2560320" y="3920947"/>
            <a:ext cx="3337560" cy="1108253"/>
          </a:xfrm>
          <a:prstGeom prst="line">
            <a:avLst/>
          </a:prstGeom>
          <a:ln w="31750">
            <a:solidFill>
              <a:srgbClr val="2E6B34"/>
            </a:solidFill>
            <a:headEnd type="triangle" w="med" len="med"/>
            <a:tailEnd type="triangle" w="med" len="med"/>
          </a:ln>
        </p:spPr>
      </p:cxnSp>
      <p:sp>
        <p:nvSpPr>
          <p:cNvPr id="22" name="Tablet Icon"/>
          <p:cNvSpPr/>
          <p:nvPr/>
        </p:nvSpPr>
        <p:spPr>
          <a:xfrm>
            <a:off x="2057400" y="5120640"/>
            <a:ext cx="1005840" cy="822960"/>
          </a:xfrm>
          <a:prstGeom prst="roundRect">
            <a:avLst>
              <a:gd name="adj" fmla="val 10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3" name="Tablet Screen"/>
          <p:cNvSpPr/>
          <p:nvPr/>
        </p:nvSpPr>
        <p:spPr>
          <a:xfrm>
            <a:off x="2130552" y="5193792"/>
            <a:ext cx="859536" cy="676656"/>
          </a:xfrm>
          <a:prstGeom prst="rect">
            <a:avLst/>
          </a:prstGeom>
          <a:solidFill>
            <a:srgbClr val="BFE0C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cxnSp>
        <p:nvCxnSpPr>
          <p:cNvPr id="24" name="Arrow Laptop"/>
          <p:cNvCxnSpPr/>
          <p:nvPr/>
        </p:nvCxnSpPr>
        <p:spPr>
          <a:xfrm flipV="1">
            <a:off x="4023360" y="3920947"/>
            <a:ext cx="1874520" cy="1108253"/>
          </a:xfrm>
          <a:prstGeom prst="line">
            <a:avLst/>
          </a:prstGeom>
          <a:ln w="31750">
            <a:solidFill>
              <a:srgbClr val="2E6B34"/>
            </a:solidFill>
            <a:headEnd type="triangle" w="med" len="med"/>
            <a:tailEnd type="triangle" w="med" len="med"/>
          </a:ln>
        </p:spPr>
      </p:cxnSp>
      <p:sp>
        <p:nvSpPr>
          <p:cNvPr id="25" name="Laptop Icon"/>
          <p:cNvSpPr/>
          <p:nvPr/>
        </p:nvSpPr>
        <p:spPr>
          <a:xfrm>
            <a:off x="3474720" y="5074920"/>
            <a:ext cx="1097280" cy="685800"/>
          </a:xfrm>
          <a:prstGeom prst="roundRect">
            <a:avLst>
              <a:gd name="adj" fmla="val 6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6" name="Laptop Screen"/>
          <p:cNvSpPr/>
          <p:nvPr/>
        </p:nvSpPr>
        <p:spPr>
          <a:xfrm>
            <a:off x="3557016" y="5148072"/>
            <a:ext cx="932688" cy="539496"/>
          </a:xfrm>
          <a:prstGeom prst="rect">
            <a:avLst/>
          </a:prstGeom>
          <a:solidFill>
            <a:srgbClr val="BFE0C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7" name="Laptop Base"/>
          <p:cNvSpPr/>
          <p:nvPr/>
        </p:nvSpPr>
        <p:spPr>
          <a:xfrm>
            <a:off x="3310128" y="5806440"/>
            <a:ext cx="1426464" cy="109728"/>
          </a:xfrm>
          <a:prstGeom prst="roundRect">
            <a:avLst>
              <a:gd name="adj" fmla="val 50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8" name="Request Label"/>
          <p:cNvSpPr txBox="1"/>
          <p:nvPr/>
        </p:nvSpPr>
        <p:spPr>
          <a:xfrm>
            <a:off x="4572000" y="525780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HTTP Request</a:t>
            </a:r>
          </a:p>
          <a:p>
            <a:pPr algn="ctr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&amp;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Frontend vs Server-Side Technologies</a:t>
            </a:r>
          </a:p>
        </p:txBody>
      </p:sp>
      <p:sp>
        <p:nvSpPr>
          <p:cNvPr id="11" name="Frontend (Client Side) Panel"/>
          <p:cNvSpPr/>
          <p:nvPr/>
        </p:nvSpPr>
        <p:spPr>
          <a:xfrm>
            <a:off x="457200" y="1463040"/>
            <a:ext cx="5303520" cy="4846320"/>
          </a:xfrm>
          <a:prstGeom prst="roundRect">
            <a:avLst>
              <a:gd name="adj" fmla="val 4000"/>
            </a:avLst>
          </a:prstGeom>
          <a:solidFill>
            <a:srgbClr val="E6F1E6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" name="Frontend (Client Side) Header"/>
          <p:cNvSpPr/>
          <p:nvPr/>
        </p:nvSpPr>
        <p:spPr>
          <a:xfrm>
            <a:off x="457200" y="1463040"/>
            <a:ext cx="5303520" cy="731520"/>
          </a:xfrm>
          <a:prstGeom prst="roundRect">
            <a:avLst>
              <a:gd name="adj" fmla="val 18000"/>
            </a:avLst>
          </a:prstGeom>
          <a:solidFill>
            <a:srgbClr val="2E6B3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Frontend (Client Side)</a:t>
            </a:r>
          </a:p>
        </p:txBody>
      </p:sp>
      <p:sp>
        <p:nvSpPr>
          <p:cNvPr id="13" name="HTML5 Chip"/>
          <p:cNvSpPr/>
          <p:nvPr/>
        </p:nvSpPr>
        <p:spPr>
          <a:xfrm>
            <a:off x="731520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HTML5</a:t>
            </a:r>
          </a:p>
        </p:txBody>
      </p:sp>
      <p:sp>
        <p:nvSpPr>
          <p:cNvPr id="14" name="CSS3 Chip"/>
          <p:cNvSpPr/>
          <p:nvPr/>
        </p:nvSpPr>
        <p:spPr>
          <a:xfrm>
            <a:off x="3223260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CSS3</a:t>
            </a:r>
          </a:p>
        </p:txBody>
      </p:sp>
      <p:sp>
        <p:nvSpPr>
          <p:cNvPr id="15" name="JavaScript Chip"/>
          <p:cNvSpPr/>
          <p:nvPr/>
        </p:nvSpPr>
        <p:spPr>
          <a:xfrm>
            <a:off x="731520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JavaScript</a:t>
            </a:r>
          </a:p>
        </p:txBody>
      </p:sp>
      <p:sp>
        <p:nvSpPr>
          <p:cNvPr id="16" name="React.js Chip"/>
          <p:cNvSpPr/>
          <p:nvPr/>
        </p:nvSpPr>
        <p:spPr>
          <a:xfrm>
            <a:off x="3223260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React.js</a:t>
            </a:r>
          </a:p>
        </p:txBody>
      </p:sp>
      <p:sp>
        <p:nvSpPr>
          <p:cNvPr id="17" name="Angular Chip"/>
          <p:cNvSpPr/>
          <p:nvPr/>
        </p:nvSpPr>
        <p:spPr>
          <a:xfrm>
            <a:off x="731520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Angular</a:t>
            </a:r>
          </a:p>
        </p:txBody>
      </p:sp>
      <p:sp>
        <p:nvSpPr>
          <p:cNvPr id="18" name="Vue.js Chip"/>
          <p:cNvSpPr/>
          <p:nvPr/>
        </p:nvSpPr>
        <p:spPr>
          <a:xfrm>
            <a:off x="3223260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Vue.js</a:t>
            </a:r>
          </a:p>
        </p:txBody>
      </p:sp>
      <p:sp>
        <p:nvSpPr>
          <p:cNvPr id="19" name="Bootstrap Chip"/>
          <p:cNvSpPr/>
          <p:nvPr/>
        </p:nvSpPr>
        <p:spPr>
          <a:xfrm>
            <a:off x="731520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Bootstrap</a:t>
            </a:r>
          </a:p>
        </p:txBody>
      </p:sp>
      <p:sp>
        <p:nvSpPr>
          <p:cNvPr id="20" name="Tailwind CSS Chip"/>
          <p:cNvSpPr/>
          <p:nvPr/>
        </p:nvSpPr>
        <p:spPr>
          <a:xfrm>
            <a:off x="3223260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Tailwind CSS</a:t>
            </a:r>
          </a:p>
        </p:txBody>
      </p:sp>
      <p:sp>
        <p:nvSpPr>
          <p:cNvPr id="21" name="Server Side (Backend) Panel"/>
          <p:cNvSpPr/>
          <p:nvPr/>
        </p:nvSpPr>
        <p:spPr>
          <a:xfrm>
            <a:off x="6428232" y="1463040"/>
            <a:ext cx="5303520" cy="4846320"/>
          </a:xfrm>
          <a:prstGeom prst="roundRect">
            <a:avLst>
              <a:gd name="adj" fmla="val 4000"/>
            </a:avLst>
          </a:prstGeom>
          <a:solidFill>
            <a:srgbClr val="FFF4D1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2" name="Server Side (Backend) Header"/>
          <p:cNvSpPr/>
          <p:nvPr/>
        </p:nvSpPr>
        <p:spPr>
          <a:xfrm>
            <a:off x="6428232" y="1463040"/>
            <a:ext cx="5303520" cy="731520"/>
          </a:xfrm>
          <a:prstGeom prst="roundRect">
            <a:avLst>
              <a:gd name="adj" fmla="val 18000"/>
            </a:avLst>
          </a:prstGeom>
          <a:solidFill>
            <a:srgbClr val="FFC00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1F2A1F"/>
                </a:solidFill>
                <a:latin typeface="Calibri"/>
                <a:cs typeface="Calibri"/>
              </a:rPr>
              <a:t>Server Side (Backend)</a:t>
            </a:r>
          </a:p>
        </p:txBody>
      </p:sp>
      <p:sp>
        <p:nvSpPr>
          <p:cNvPr id="23" name="Node.js Chip"/>
          <p:cNvSpPr/>
          <p:nvPr/>
        </p:nvSpPr>
        <p:spPr>
          <a:xfrm>
            <a:off x="6702552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Node.js</a:t>
            </a:r>
          </a:p>
        </p:txBody>
      </p:sp>
      <p:sp>
        <p:nvSpPr>
          <p:cNvPr id="24" name="Express.js Chip"/>
          <p:cNvSpPr/>
          <p:nvPr/>
        </p:nvSpPr>
        <p:spPr>
          <a:xfrm>
            <a:off x="9194292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Express.js</a:t>
            </a:r>
          </a:p>
        </p:txBody>
      </p:sp>
      <p:sp>
        <p:nvSpPr>
          <p:cNvPr id="25" name="PHP Chip"/>
          <p:cNvSpPr/>
          <p:nvPr/>
        </p:nvSpPr>
        <p:spPr>
          <a:xfrm>
            <a:off x="6702552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PHP</a:t>
            </a:r>
          </a:p>
        </p:txBody>
      </p:sp>
      <p:sp>
        <p:nvSpPr>
          <p:cNvPr id="26" name="Django Chip"/>
          <p:cNvSpPr/>
          <p:nvPr/>
        </p:nvSpPr>
        <p:spPr>
          <a:xfrm>
            <a:off x="9194292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Django</a:t>
            </a:r>
          </a:p>
        </p:txBody>
      </p:sp>
      <p:sp>
        <p:nvSpPr>
          <p:cNvPr id="27" name="Spring Boot Chip"/>
          <p:cNvSpPr/>
          <p:nvPr/>
        </p:nvSpPr>
        <p:spPr>
          <a:xfrm>
            <a:off x="6702552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Spring Boot</a:t>
            </a:r>
          </a:p>
        </p:txBody>
      </p:sp>
      <p:sp>
        <p:nvSpPr>
          <p:cNvPr id="28" name="ASP.NET Chip"/>
          <p:cNvSpPr/>
          <p:nvPr/>
        </p:nvSpPr>
        <p:spPr>
          <a:xfrm>
            <a:off x="9194292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ASP.NET</a:t>
            </a:r>
          </a:p>
        </p:txBody>
      </p:sp>
      <p:sp>
        <p:nvSpPr>
          <p:cNvPr id="29" name="MongoDB Chip"/>
          <p:cNvSpPr/>
          <p:nvPr/>
        </p:nvSpPr>
        <p:spPr>
          <a:xfrm>
            <a:off x="6702552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MongoDB</a:t>
            </a:r>
          </a:p>
        </p:txBody>
      </p:sp>
      <p:sp>
        <p:nvSpPr>
          <p:cNvPr id="30" name="MySQL Chip"/>
          <p:cNvSpPr/>
          <p:nvPr/>
        </p:nvSpPr>
        <p:spPr>
          <a:xfrm>
            <a:off x="9194292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MySQL</a:t>
            </a:r>
          </a:p>
        </p:txBody>
      </p:sp>
      <p:sp>
        <p:nvSpPr>
          <p:cNvPr id="31" name="Link Arrow"/>
          <p:cNvSpPr/>
          <p:nvPr/>
        </p:nvSpPr>
        <p:spPr>
          <a:xfrm>
            <a:off x="5815584" y="3840480"/>
            <a:ext cx="566928" cy="365760"/>
          </a:xfrm>
          <a:prstGeom prst="leftRightArrow">
            <a:avLst>
              <a:gd name="adj1" fmla="val 34000"/>
              <a:gd name="adj2" fmla="val 70000"/>
            </a:avLst>
          </a:prstGeom>
          <a:solidFill>
            <a:srgbClr val="2F6DA3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Introduction to HTML</a:t>
            </a:r>
          </a:p>
        </p:txBody>
      </p:sp>
      <p:sp>
        <p:nvSpPr>
          <p:cNvPr id="11" name="What is HTML"/>
          <p:cNvSpPr txBox="1"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2200" b="1" dirty="0">
                <a:solidFill>
                  <a:srgbClr val="2E6B34"/>
                </a:solidFill>
                <a:latin typeface="Calibri"/>
                <a:cs typeface="Calibri"/>
              </a:rPr>
              <a:t>What is HTML?</a:t>
            </a:r>
          </a:p>
        </p:txBody>
      </p:sp>
      <p:sp>
        <p:nvSpPr>
          <p:cNvPr id="12" name="Definition"/>
          <p:cNvSpPr txBox="1"/>
          <p:nvPr/>
        </p:nvSpPr>
        <p:spPr>
          <a:xfrm>
            <a:off x="457200" y="1920240"/>
            <a:ext cx="5669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HTML (HyperText Markup Language) is the standard markup language used to create the structure of web pages.</a:t>
            </a:r>
          </a:p>
        </p:txBody>
      </p:sp>
      <p:sp>
        <p:nvSpPr>
          <p:cNvPr id="13" name="Point 1 Badge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" name="Point 1 Text"/>
          <p:cNvSpPr txBox="1"/>
          <p:nvPr/>
        </p:nvSpPr>
        <p:spPr>
          <a:xfrm>
            <a:off x="1097280" y="30175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Defines the structure and content of web pages</a:t>
            </a:r>
          </a:p>
        </p:txBody>
      </p:sp>
      <p:sp>
        <p:nvSpPr>
          <p:cNvPr id="15" name="Point 2 Badge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6" name="Point 2 Text"/>
          <p:cNvSpPr txBox="1"/>
          <p:nvPr/>
        </p:nvSpPr>
        <p:spPr>
          <a:xfrm>
            <a:off x="1097280" y="3822192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Built from tags and elements such as &lt;h1&gt;, &lt;p&gt; and &lt;a&gt;</a:t>
            </a:r>
          </a:p>
        </p:txBody>
      </p:sp>
      <p:sp>
        <p:nvSpPr>
          <p:cNvPr id="17" name="Point 3 Badge"/>
          <p:cNvSpPr/>
          <p:nvPr/>
        </p:nvSpPr>
        <p:spPr>
          <a:xfrm>
            <a:off x="457200" y="4718304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Point 3 Text"/>
          <p:cNvSpPr txBox="1"/>
          <p:nvPr/>
        </p:nvSpPr>
        <p:spPr>
          <a:xfrm>
            <a:off x="1097280" y="4626864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Styled by CSS and made interactive by JavaScript</a:t>
            </a:r>
          </a:p>
        </p:txBody>
      </p:sp>
      <p:sp>
        <p:nvSpPr>
          <p:cNvPr id="19" name="Point 4 Badge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Point 4 Text"/>
          <p:cNvSpPr txBox="1"/>
          <p:nvPr/>
        </p:nvSpPr>
        <p:spPr>
          <a:xfrm>
            <a:off x="1097280" y="5431536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Interpreted and displayed by web browsers</a:t>
            </a:r>
          </a:p>
        </p:txBody>
      </p:sp>
      <p:sp>
        <p:nvSpPr>
          <p:cNvPr id="21" name="Code Caption"/>
          <p:cNvSpPr txBox="1"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Basic structure of an HTML page</a:t>
            </a:r>
          </a:p>
        </p:txBody>
      </p:sp>
      <p:sp>
        <p:nvSpPr>
          <p:cNvPr id="22" name="Code Card"/>
          <p:cNvSpPr/>
          <p:nvPr/>
        </p:nvSpPr>
        <p:spPr>
          <a:xfrm>
            <a:off x="6492240" y="19202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320040" tIns="36576" rIns="320040" bIns="36576" anchor="ctr">
            <a:noAutofit/>
          </a:bodyPr>
          <a:lstStyle/>
          <a:p>
            <a:pPr marL="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&lt;!DOCTYPE html&gt;</a:t>
            </a:r>
          </a:p>
          <a:p>
            <a:pPr marL="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&lt;html&gt;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&lt;head&gt;</a:t>
            </a:r>
          </a:p>
          <a:p>
            <a:pPr marL="54864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&lt;title&gt;My Page&lt;/title&gt;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&lt;/head&gt;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&lt;body&gt;</a:t>
            </a:r>
          </a:p>
          <a:p>
            <a:pPr marL="54864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&lt;h1&gt;Hello, GLA!&lt;/h1&gt;</a:t>
            </a:r>
          </a:p>
          <a:p>
            <a:pPr marL="54864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&lt;p&gt;My first web page.&lt;/p&gt;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&lt;/body&gt;</a:t>
            </a:r>
          </a:p>
          <a:p>
            <a:pPr marL="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&lt;/html&gt;</a:t>
            </a:r>
          </a:p>
        </p:txBody>
      </p:sp>
      <p:sp>
        <p:nvSpPr>
          <p:cNvPr id="23" name="Fact 1"/>
          <p:cNvSpPr/>
          <p:nvPr/>
        </p:nvSpPr>
        <p:spPr>
          <a:xfrm>
            <a:off x="6492240" y="50292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1F4A24"/>
                </a:solidFill>
                <a:latin typeface="Calibri"/>
                <a:cs typeface="Calibri"/>
              </a:rPr>
              <a:t>HTML5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Current standard</a:t>
            </a:r>
          </a:p>
        </p:txBody>
      </p:sp>
      <p:sp>
        <p:nvSpPr>
          <p:cNvPr id="24" name="Fact 2"/>
          <p:cNvSpPr/>
          <p:nvPr/>
        </p:nvSpPr>
        <p:spPr>
          <a:xfrm>
            <a:off x="9189720" y="50292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1F4A24"/>
                </a:solidFill>
                <a:latin typeface="Calibri"/>
                <a:cs typeface="Calibri"/>
              </a:rPr>
              <a:t>1991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First published by Tim Berners-Lee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Commonly Used HTML Tags</a:t>
            </a:r>
          </a:p>
        </p:txBody>
      </p:sp>
      <p:sp>
        <p:nvSpPr>
          <p:cNvPr id="11" name="Tag Card 1"/>
          <p:cNvSpPr/>
          <p:nvPr/>
        </p:nvSpPr>
        <p:spPr>
          <a:xfrm>
            <a:off x="457200" y="15087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&lt;h1&gt; to &lt;h6&gt;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Headings, from largest to smallest</a:t>
            </a:r>
          </a:p>
        </p:txBody>
      </p:sp>
      <p:sp>
        <p:nvSpPr>
          <p:cNvPr id="12" name="Tag Card 2"/>
          <p:cNvSpPr/>
          <p:nvPr/>
        </p:nvSpPr>
        <p:spPr>
          <a:xfrm>
            <a:off x="4251960" y="15087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&lt;p&gt;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Defines a paragraph of text</a:t>
            </a:r>
          </a:p>
        </p:txBody>
      </p:sp>
      <p:sp>
        <p:nvSpPr>
          <p:cNvPr id="13" name="Tag Card 3"/>
          <p:cNvSpPr/>
          <p:nvPr/>
        </p:nvSpPr>
        <p:spPr>
          <a:xfrm>
            <a:off x="8046720" y="15087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&lt;a&gt;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Creates a hyperlink to another page</a:t>
            </a:r>
          </a:p>
        </p:txBody>
      </p:sp>
      <p:sp>
        <p:nvSpPr>
          <p:cNvPr id="14" name="Tag Card 4"/>
          <p:cNvSpPr/>
          <p:nvPr/>
        </p:nvSpPr>
        <p:spPr>
          <a:xfrm>
            <a:off x="457200" y="31089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&lt;img&gt;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Embeds an image in the page</a:t>
            </a:r>
          </a:p>
        </p:txBody>
      </p:sp>
      <p:sp>
        <p:nvSpPr>
          <p:cNvPr id="15" name="Tag Card 5"/>
          <p:cNvSpPr/>
          <p:nvPr/>
        </p:nvSpPr>
        <p:spPr>
          <a:xfrm>
            <a:off x="4251960" y="31089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&lt;ul&gt; &lt;li&gt;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Bulleted list and its list items</a:t>
            </a:r>
          </a:p>
        </p:txBody>
      </p:sp>
      <p:sp>
        <p:nvSpPr>
          <p:cNvPr id="16" name="Tag Card 6"/>
          <p:cNvSpPr/>
          <p:nvPr/>
        </p:nvSpPr>
        <p:spPr>
          <a:xfrm>
            <a:off x="8046720" y="31089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&lt;ol&gt; &lt;li&gt;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Numbered list and its list items</a:t>
            </a:r>
          </a:p>
        </p:txBody>
      </p:sp>
      <p:sp>
        <p:nvSpPr>
          <p:cNvPr id="17" name="Tag Card 7"/>
          <p:cNvSpPr/>
          <p:nvPr/>
        </p:nvSpPr>
        <p:spPr>
          <a:xfrm>
            <a:off x="457200" y="47091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&lt;table&gt; &lt;tr&gt; &lt;td&gt;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Table with rows and cells</a:t>
            </a:r>
          </a:p>
        </p:txBody>
      </p:sp>
      <p:sp>
        <p:nvSpPr>
          <p:cNvPr id="18" name="Tag Card 8"/>
          <p:cNvSpPr/>
          <p:nvPr/>
        </p:nvSpPr>
        <p:spPr>
          <a:xfrm>
            <a:off x="4251960" y="47091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&lt;form&gt; &lt;input&gt;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Collects user input and submits it</a:t>
            </a:r>
          </a:p>
        </p:txBody>
      </p:sp>
      <p:sp>
        <p:nvSpPr>
          <p:cNvPr id="19" name="Tag Card 9"/>
          <p:cNvSpPr/>
          <p:nvPr/>
        </p:nvSpPr>
        <p:spPr>
          <a:xfrm>
            <a:off x="8046720" y="47091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&lt;div&gt; &lt;span&gt;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Containers for grouping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HTML Table: Sample Code</a:t>
            </a:r>
          </a:p>
        </p:txBody>
      </p:sp>
      <p:sp>
        <p:nvSpPr>
          <p:cNvPr id="11" name="Code Caption"/>
          <p:cNvSpPr txBox="1"/>
          <p:nvPr/>
        </p:nvSpPr>
        <p:spPr>
          <a:xfrm>
            <a:off x="4572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Sample code</a:t>
            </a:r>
          </a:p>
        </p:txBody>
      </p:sp>
      <p:sp>
        <p:nvSpPr>
          <p:cNvPr id="12" name="Code Card"/>
          <p:cNvSpPr/>
          <p:nvPr/>
        </p:nvSpPr>
        <p:spPr>
          <a:xfrm>
            <a:off x="457200" y="1920240"/>
            <a:ext cx="6400800" cy="3429000"/>
          </a:xfrm>
          <a:prstGeom prst="roundRect">
            <a:avLst>
              <a:gd name="adj" fmla="val 4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&lt;table border="1" cellpadding="8" cellspacing="0"&gt;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&lt;tr&gt;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&lt;th&gt;Name&lt;/th&gt;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&lt;th colspan="2"&gt;Marks&lt;/th&gt;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&lt;/tr&gt;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&lt;tr&gt;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 rowspan="2"&gt;Amit&lt;/td&gt;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&lt;td&gt;Maths&lt;/td&gt;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&lt;td&gt;85&lt;/td&gt;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&lt;/tr&gt;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&lt;tr&gt;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&lt;td&gt;Science&lt;/td&gt;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&lt;td&gt;90&lt;/td&gt;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&lt;/tr&gt;</a:t>
            </a:r>
          </a:p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&lt;/table&gt;</a:t>
            </a:r>
          </a:p>
        </p:txBody>
      </p:sp>
      <p:sp>
        <p:nvSpPr>
          <p:cNvPr id="13" name="Output Caption"/>
          <p:cNvSpPr txBox="1"/>
          <p:nvPr/>
        </p:nvSpPr>
        <p:spPr>
          <a:xfrm>
            <a:off x="7315200" y="14630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Output in the browser</a:t>
            </a:r>
          </a:p>
        </p:txBody>
      </p:sp>
      <p:sp>
        <p:nvSpPr>
          <p:cNvPr id="14" name="Name Header"/>
          <p:cNvSpPr/>
          <p:nvPr/>
        </p:nvSpPr>
        <p:spPr>
          <a:xfrm>
            <a:off x="7406640" y="2514600"/>
            <a:ext cx="1280160" cy="731520"/>
          </a:xfrm>
          <a:prstGeom prst="rect">
            <a:avLst/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Name</a:t>
            </a:r>
          </a:p>
        </p:txBody>
      </p:sp>
      <p:sp>
        <p:nvSpPr>
          <p:cNvPr id="15" name="Marks Header"/>
          <p:cNvSpPr/>
          <p:nvPr/>
        </p:nvSpPr>
        <p:spPr>
          <a:xfrm>
            <a:off x="8686800" y="2514600"/>
            <a:ext cx="2926080" cy="731520"/>
          </a:xfrm>
          <a:prstGeom prst="rect">
            <a:avLst/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Marks</a:t>
            </a:r>
          </a:p>
          <a:p>
            <a:pPr algn="ctr"/>
            <a:r>
              <a:rPr lang="en-US" sz="1100" b="0" dirty="0">
                <a:solidFill>
                  <a:srgbClr val="1F2A1F"/>
                </a:solidFill>
                <a:latin typeface="Calibri"/>
                <a:cs typeface="Calibri"/>
              </a:rPr>
              <a:t>colspan="2"</a:t>
            </a:r>
          </a:p>
        </p:txBody>
      </p:sp>
      <p:sp>
        <p:nvSpPr>
          <p:cNvPr id="16" name="Amit Cell"/>
          <p:cNvSpPr/>
          <p:nvPr/>
        </p:nvSpPr>
        <p:spPr>
          <a:xfrm>
            <a:off x="7406640" y="3246120"/>
            <a:ext cx="1280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Amit</a:t>
            </a:r>
          </a:p>
          <a:p>
            <a:pPr algn="ctr"/>
            <a:r>
              <a:rPr lang="en-US" sz="1100" b="0" dirty="0">
                <a:solidFill>
                  <a:srgbClr val="1F2A1F"/>
                </a:solidFill>
                <a:latin typeface="Calibri"/>
                <a:cs typeface="Calibri"/>
              </a:rPr>
              <a:t>rowspan="2"</a:t>
            </a:r>
          </a:p>
        </p:txBody>
      </p:sp>
      <p:sp>
        <p:nvSpPr>
          <p:cNvPr id="17" name="Maths Cell"/>
          <p:cNvSpPr/>
          <p:nvPr/>
        </p:nvSpPr>
        <p:spPr>
          <a:xfrm>
            <a:off x="8686800" y="324612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Maths</a:t>
            </a:r>
          </a:p>
        </p:txBody>
      </p:sp>
      <p:sp>
        <p:nvSpPr>
          <p:cNvPr id="18" name="85 Cell"/>
          <p:cNvSpPr/>
          <p:nvPr/>
        </p:nvSpPr>
        <p:spPr>
          <a:xfrm>
            <a:off x="10241280" y="324612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19" name="Science Cell"/>
          <p:cNvSpPr/>
          <p:nvPr/>
        </p:nvSpPr>
        <p:spPr>
          <a:xfrm>
            <a:off x="8686800" y="397764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Science</a:t>
            </a:r>
          </a:p>
        </p:txBody>
      </p:sp>
      <p:sp>
        <p:nvSpPr>
          <p:cNvPr id="20" name="90 Cell"/>
          <p:cNvSpPr/>
          <p:nvPr/>
        </p:nvSpPr>
        <p:spPr>
          <a:xfrm>
            <a:off x="10241280" y="397764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90</a:t>
            </a:r>
          </a:p>
        </p:txBody>
      </p:sp>
      <p:sp>
        <p:nvSpPr>
          <p:cNvPr id="21" name="Attr border"/>
          <p:cNvSpPr/>
          <p:nvPr/>
        </p:nvSpPr>
        <p:spPr>
          <a:xfrm>
            <a:off x="457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border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Border width</a:t>
            </a:r>
          </a:p>
        </p:txBody>
      </p:sp>
      <p:sp>
        <p:nvSpPr>
          <p:cNvPr id="22" name="Attr cellpadding"/>
          <p:cNvSpPr/>
          <p:nvPr/>
        </p:nvSpPr>
        <p:spPr>
          <a:xfrm>
            <a:off x="2743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cellpadding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Space inside cells</a:t>
            </a:r>
          </a:p>
        </p:txBody>
      </p:sp>
      <p:sp>
        <p:nvSpPr>
          <p:cNvPr id="23" name="Attr cellspacing"/>
          <p:cNvSpPr/>
          <p:nvPr/>
        </p:nvSpPr>
        <p:spPr>
          <a:xfrm>
            <a:off x="5029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cellspacing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Gap between cells</a:t>
            </a:r>
          </a:p>
        </p:txBody>
      </p:sp>
      <p:sp>
        <p:nvSpPr>
          <p:cNvPr id="24" name="Attr colspan"/>
          <p:cNvSpPr/>
          <p:nvPr/>
        </p:nvSpPr>
        <p:spPr>
          <a:xfrm>
            <a:off x="7315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colspan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Merges columns</a:t>
            </a:r>
          </a:p>
        </p:txBody>
      </p:sp>
      <p:sp>
        <p:nvSpPr>
          <p:cNvPr id="25" name="Attr rowspan"/>
          <p:cNvSpPr/>
          <p:nvPr/>
        </p:nvSpPr>
        <p:spPr>
          <a:xfrm>
            <a:off x="9601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rowspan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Merges rows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HTML Lists: &lt;ul&gt; and &lt;ol&gt;</a:t>
            </a:r>
          </a:p>
        </p:txBody>
      </p:sp>
      <p:sp>
        <p:nvSpPr>
          <p:cNvPr id="11" name="Unordered list: &lt;ul&gt; Header"/>
          <p:cNvSpPr/>
          <p:nvPr/>
        </p:nvSpPr>
        <p:spPr>
          <a:xfrm>
            <a:off x="457200" y="1463040"/>
            <a:ext cx="5440680" cy="457200"/>
          </a:xfrm>
          <a:prstGeom prst="roundRect">
            <a:avLst>
              <a:gd name="adj" fmla="val 20000"/>
            </a:avLst>
          </a:prstGeom>
          <a:solidFill>
            <a:srgbClr val="2E6B3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  <a:cs typeface="Calibri"/>
              </a:rPr>
              <a:t>Unordered list: &lt;ul&gt;</a:t>
            </a:r>
          </a:p>
        </p:txBody>
      </p:sp>
      <p:sp>
        <p:nvSpPr>
          <p:cNvPr id="12" name="Unordered list: &lt;ul&gt; Code"/>
          <p:cNvSpPr/>
          <p:nvPr/>
        </p:nvSpPr>
        <p:spPr>
          <a:xfrm>
            <a:off x="457200" y="201168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&lt;ul type="square"&gt;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&lt;li&gt;HTML&lt;/li&gt;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&lt;li&gt;CSS&lt;/li&gt;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&lt;li&gt;JavaScript&lt;/li&gt;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&lt;/ul&gt;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&lt;ul type="circle"&gt;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&lt;li&gt;React.js&lt;/li&gt;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&lt;li&gt;Node.js&lt;/li&gt;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&lt;/ul&gt;</a:t>
            </a:r>
          </a:p>
        </p:txBody>
      </p:sp>
      <p:sp>
        <p:nvSpPr>
          <p:cNvPr id="13" name="Unordered list: &lt;ul&gt; Output Card"/>
          <p:cNvSpPr/>
          <p:nvPr/>
        </p:nvSpPr>
        <p:spPr>
          <a:xfrm>
            <a:off x="457200" y="420624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4" name="Unordered list: &lt;ul&gt; Output Label"/>
          <p:cNvSpPr txBox="1"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Output</a:t>
            </a:r>
          </a:p>
        </p:txBody>
      </p:sp>
      <p:sp>
        <p:nvSpPr>
          <p:cNvPr id="15" name="Unordered list: &lt;ul&gt; Output 1"/>
          <p:cNvSpPr txBox="1"/>
          <p:nvPr/>
        </p:nvSpPr>
        <p:spPr>
          <a:xfrm>
            <a:off x="731520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Arial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HTML</a:t>
            </a:r>
          </a:p>
          <a:p>
            <a:pPr marL="365760" indent="-365760" algn="l">
              <a:buFont typeface="Arial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CSS</a:t>
            </a:r>
          </a:p>
          <a:p>
            <a:pPr marL="365760" indent="-365760" algn="l">
              <a:buFont typeface="Arial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JavaScript</a:t>
            </a:r>
          </a:p>
        </p:txBody>
      </p:sp>
      <p:sp>
        <p:nvSpPr>
          <p:cNvPr id="16" name="Unordered list: &lt;ul&gt; Output 2"/>
          <p:cNvSpPr txBox="1"/>
          <p:nvPr/>
        </p:nvSpPr>
        <p:spPr>
          <a:xfrm>
            <a:off x="3383280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Arial"/>
              <a:buChar char="○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React.js</a:t>
            </a:r>
          </a:p>
          <a:p>
            <a:pPr marL="365760" indent="-365760" algn="l">
              <a:buFont typeface="Arial"/>
              <a:buChar char="○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Node.js</a:t>
            </a:r>
          </a:p>
        </p:txBody>
      </p:sp>
      <p:sp>
        <p:nvSpPr>
          <p:cNvPr id="17" name="Unordered list: &lt;ul&gt; Notes"/>
          <p:cNvSpPr/>
          <p:nvPr/>
        </p:nvSpPr>
        <p:spPr>
          <a:xfrm>
            <a:off x="457200" y="54406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182880" tIns="36576" rIns="182880" bIns="36576" anchor="ctr">
            <a:noAutofit/>
          </a:bodyPr>
          <a:lstStyle/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type: bullet style, disc (default), circle or square</a:t>
            </a:r>
          </a:p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The start attribute works only with &lt;ol&gt;</a:t>
            </a:r>
          </a:p>
        </p:txBody>
      </p:sp>
      <p:sp>
        <p:nvSpPr>
          <p:cNvPr id="18" name="Ordered list: &lt;ol&gt; Header"/>
          <p:cNvSpPr/>
          <p:nvPr/>
        </p:nvSpPr>
        <p:spPr>
          <a:xfrm>
            <a:off x="6291072" y="1463040"/>
            <a:ext cx="5440680" cy="45720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Ordered list: &lt;ol&gt;</a:t>
            </a:r>
          </a:p>
        </p:txBody>
      </p:sp>
      <p:sp>
        <p:nvSpPr>
          <p:cNvPr id="19" name="Ordered list: &lt;ol&gt; Code"/>
          <p:cNvSpPr/>
          <p:nvPr/>
        </p:nvSpPr>
        <p:spPr>
          <a:xfrm>
            <a:off x="6291072" y="201168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&lt;ol type="A" start="3"&gt;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&lt;li&gt;HTML&lt;/li&gt;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&lt;li&gt;CSS&lt;/li&gt;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&lt;li&gt;JavaScript&lt;/li&gt;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&lt;/ol&gt;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&lt;ol type="i" start="5"&gt;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&lt;li&gt;React.js&lt;/li&gt;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&lt;li&gt;Node.js&lt;/li&gt;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&lt;/ol&gt;</a:t>
            </a:r>
          </a:p>
        </p:txBody>
      </p:sp>
      <p:sp>
        <p:nvSpPr>
          <p:cNvPr id="20" name="Ordered list: &lt;ol&gt; Output Card"/>
          <p:cNvSpPr/>
          <p:nvPr/>
        </p:nvSpPr>
        <p:spPr>
          <a:xfrm>
            <a:off x="6291072" y="420624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1" name="Ordered list: &lt;ol&gt; Output Label"/>
          <p:cNvSpPr txBox="1"/>
          <p:nvPr/>
        </p:nvSpPr>
        <p:spPr>
          <a:xfrm>
            <a:off x="6473952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Output</a:t>
            </a:r>
          </a:p>
        </p:txBody>
      </p:sp>
      <p:sp>
        <p:nvSpPr>
          <p:cNvPr id="22" name="Ordered list: &lt;ol&gt; Output 1"/>
          <p:cNvSpPr txBox="1"/>
          <p:nvPr/>
        </p:nvSpPr>
        <p:spPr>
          <a:xfrm>
            <a:off x="6565392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+mj-lt"/>
              <a:buAutoNum type="alphaUcPeriod" startAt="3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HTML</a:t>
            </a:r>
          </a:p>
          <a:p>
            <a:pPr marL="365760" indent="-365760" algn="l">
              <a:buFont typeface="+mj-lt"/>
              <a:buAutoNum type="alphaUcPeriod" startAt="3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CSS</a:t>
            </a:r>
          </a:p>
          <a:p>
            <a:pPr marL="365760" indent="-365760" algn="l">
              <a:buFont typeface="+mj-lt"/>
              <a:buAutoNum type="alphaUcPeriod" startAt="3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JavaScript</a:t>
            </a:r>
          </a:p>
        </p:txBody>
      </p:sp>
      <p:sp>
        <p:nvSpPr>
          <p:cNvPr id="23" name="Ordered list: &lt;ol&gt; Output 2"/>
          <p:cNvSpPr txBox="1"/>
          <p:nvPr/>
        </p:nvSpPr>
        <p:spPr>
          <a:xfrm>
            <a:off x="9217152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+mj-lt"/>
              <a:buAutoNum type="romanLcPeriod" startAt="5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React.js</a:t>
            </a:r>
          </a:p>
          <a:p>
            <a:pPr marL="365760" indent="-365760" algn="l">
              <a:buFont typeface="+mj-lt"/>
              <a:buAutoNum type="romanLcPeriod" startAt="5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Node.js</a:t>
            </a:r>
          </a:p>
        </p:txBody>
      </p:sp>
      <p:sp>
        <p:nvSpPr>
          <p:cNvPr id="24" name="Ordered list: &lt;ol&gt; Notes"/>
          <p:cNvSpPr/>
          <p:nvPr/>
        </p:nvSpPr>
        <p:spPr>
          <a:xfrm>
            <a:off x="6291072" y="54406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182880" tIns="36576" rIns="182880" bIns="36576" anchor="ctr">
            <a:noAutofit/>
          </a:bodyPr>
          <a:lstStyle/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type: numbering style, 1, A, a, I or i</a:t>
            </a:r>
          </a:p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start: first value, so start="3" with type="A" gives 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331720"/>
            <a:ext cx="9994392" cy="210312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/>
              <a:t>Full Stack Development - 1</a:t>
            </a:r>
          </a:p>
          <a:p>
            <a:pPr algn="ctr">
              <a:spcBef>
                <a:spcPts val="1200"/>
              </a:spcBef>
            </a:pPr>
            <a:r>
              <a:rPr lang="en-US" sz="3200" b="0" dirty="0">
                <a:solidFill>
                  <a:srgbClr val="2E6B34"/>
                </a:solidFill>
              </a:rPr>
              <a:t>Session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Roboto</vt:lpstr>
      <vt:lpstr>Wingdings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Rakhi Sharma</cp:lastModifiedBy>
  <cp:revision>45</cp:revision>
  <dcterms:created xsi:type="dcterms:W3CDTF">2024-10-06T15:26:34Z</dcterms:created>
  <dcterms:modified xsi:type="dcterms:W3CDTF">2026-08-20T06:07:09Z</dcterms:modified>
</cp:coreProperties>
</file>